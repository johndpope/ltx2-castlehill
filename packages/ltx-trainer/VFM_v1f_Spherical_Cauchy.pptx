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58200" y="228600"/>
            <a:ext cx="2286000" cy="2286000"/>
          </a:xfrm>
          <a:prstGeom prst="ellipse">
            <a:avLst/>
          </a:prstGeom>
          <a:noFill/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1188720"/>
            <a:ext cx="1645920" cy="1645920"/>
          </a:xfrm>
          <a:prstGeom prst="ellipse">
            <a:avLst/>
          </a:prstGeom>
          <a:noFill/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2011680"/>
            <a:ext cx="1097280" cy="1097280"/>
          </a:xfrm>
          <a:prstGeom prst="ellipse">
            <a:avLst/>
          </a:prstGeom>
          <a:noFill/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VFM v1f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Spherical Cauchy Noise Adapter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4A3B8"/>
                </a:solidFill>
                <a:latin typeface="Calibri"/>
              </a:defRPr>
            </a:pPr>
            <a:r>
              <a:t>One-Step Video Generation via Structured Noise on S¹²⁷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2194560" cy="164592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8.7–21.5x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Faster than</a:t>
            </a:r>
            <a:br/>
            <a:r>
              <a:t>8-step LTX-2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4389120"/>
            <a:ext cx="2194560" cy="164592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19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ADE80"/>
                </a:solidFill>
                <a:latin typeface="Calibri"/>
              </a:defRPr>
            </a:pPr>
            <a:r>
              <a:t>1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19" y="5212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Forward pass</a:t>
            </a:r>
            <a:br/>
            <a:r>
              <a:t>(was 8 steps)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59" y="4389120"/>
            <a:ext cx="2194560" cy="164592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39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78BFA"/>
                </a:solidFill>
                <a:latin typeface="Calibri"/>
              </a:defRPr>
            </a:pPr>
            <a:r>
              <a:t>S¹²⁷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39" y="5212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Noise lives on</a:t>
            </a:r>
            <a:br/>
            <a:r>
              <a:t>hypersphere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4389120"/>
            <a:ext cx="2194560" cy="164592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BF24"/>
                </a:solidFill>
                <a:latin typeface="Calibri"/>
              </a:defRPr>
            </a:pPr>
            <a:r>
              <a:t>19.1M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212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Adapter</a:t>
            </a:r>
            <a:br/>
            <a:r>
              <a:t>parameters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Problem: 8 Steps is Too Slow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Standard LTX-2 requires 8 Euler denoising steps — each step runs the full 48-layer, 19B 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Calibri"/>
              </a:defRPr>
            </a:pPr>
            <a:r>
              <a:t>Standard LTX-2  (8 steps)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9728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  <a:br/>
            <a:r>
              <a:t>48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304288"/>
            <a:ext cx="18288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>
            <a:off x="1965960" y="2221992"/>
            <a:ext cx="182880" cy="219456"/>
          </a:xfrm>
          <a:prstGeom prst="rtTriangl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2011680"/>
            <a:ext cx="109728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  <a:br/>
            <a:r>
              <a:t>48 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304288"/>
            <a:ext cx="18288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Triangle 9"/>
          <p:cNvSpPr/>
          <p:nvPr/>
        </p:nvSpPr>
        <p:spPr>
          <a:xfrm>
            <a:off x="3246120" y="2221992"/>
            <a:ext cx="182880" cy="219456"/>
          </a:xfrm>
          <a:prstGeom prst="rtTriangl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39" y="2011680"/>
            <a:ext cx="109728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  <a:br/>
            <a:r>
              <a:t>48 layers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19" y="2304288"/>
            <a:ext cx="18288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Triangle 12"/>
          <p:cNvSpPr/>
          <p:nvPr/>
        </p:nvSpPr>
        <p:spPr>
          <a:xfrm>
            <a:off x="4526279" y="2221992"/>
            <a:ext cx="182880" cy="219456"/>
          </a:xfrm>
          <a:prstGeom prst="rtTriangl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1999" y="2011680"/>
            <a:ext cx="109728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  <a:br/>
            <a:r>
              <a:t>48 layers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79" y="2304288"/>
            <a:ext cx="18288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>
            <a:off x="5806439" y="2221992"/>
            <a:ext cx="182880" cy="219456"/>
          </a:xfrm>
          <a:prstGeom prst="rtTriangl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52159" y="2011680"/>
            <a:ext cx="109728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  <a:br/>
            <a:r>
              <a:t>48 layers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39" y="2304288"/>
            <a:ext cx="18288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>
            <a:off x="7086599" y="2221992"/>
            <a:ext cx="182880" cy="219456"/>
          </a:xfrm>
          <a:prstGeom prst="rtTriangl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0" y="2011680"/>
            <a:ext cx="109728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6</a:t>
            </a:r>
            <a:br/>
            <a:r>
              <a:t>48 layers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304288"/>
            <a:ext cx="18288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Triangle 21"/>
          <p:cNvSpPr/>
          <p:nvPr/>
        </p:nvSpPr>
        <p:spPr>
          <a:xfrm>
            <a:off x="8366760" y="2221992"/>
            <a:ext cx="182880" cy="219456"/>
          </a:xfrm>
          <a:prstGeom prst="rtTriangl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0" y="2011680"/>
            <a:ext cx="109728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7</a:t>
            </a:r>
            <a:br/>
            <a:r>
              <a:t>48 layers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2304288"/>
            <a:ext cx="18288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>
            <a:off x="9646920" y="2221992"/>
            <a:ext cx="182880" cy="219456"/>
          </a:xfrm>
          <a:prstGeom prst="rtTriangl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92640" y="2011680"/>
            <a:ext cx="109728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8</a:t>
            </a:r>
            <a:br/>
            <a:r>
              <a:t>48 layers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onsolas"/>
              </a:defRPr>
            </a:pPr>
            <a:r>
              <a:t>z ~ N(0, I)  →  [step 1] → [step 2] → ... → [step 8] →  video     ~33–76 seconds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VFM v1f  (1 step)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57600"/>
            <a:ext cx="2286000" cy="10972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Noise Adapter qφ</a:t>
            </a:r>
            <a:br/>
            <a:br/>
            <a:r>
              <a:t>Text → Structured Noise</a:t>
            </a:r>
            <a:br/>
            <a:r>
              <a:t>on S¹²⁷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4178808"/>
            <a:ext cx="4572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Triangle 30"/>
          <p:cNvSpPr/>
          <p:nvPr/>
        </p:nvSpPr>
        <p:spPr>
          <a:xfrm>
            <a:off x="3429000" y="4096512"/>
            <a:ext cx="182880" cy="219456"/>
          </a:xfrm>
          <a:prstGeom prst="rt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566160" y="3657600"/>
            <a:ext cx="2286000" cy="10972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1 Step</a:t>
            </a:r>
            <a:br/>
            <a:r>
              <a:t>48-layer DiT</a:t>
            </a:r>
            <a:br/>
            <a:r>
              <a:t>(LoRA fine-tuned)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4178808"/>
            <a:ext cx="4572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Triangle 33"/>
          <p:cNvSpPr/>
          <p:nvPr/>
        </p:nvSpPr>
        <p:spPr>
          <a:xfrm>
            <a:off x="6263640" y="4096512"/>
            <a:ext cx="182880" cy="219456"/>
          </a:xfrm>
          <a:prstGeom prst="rt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3657600"/>
            <a:ext cx="1828800" cy="10972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Video</a:t>
            </a:r>
            <a:br/>
            <a:r>
              <a:t>768×448</a:t>
            </a:r>
            <a:br/>
            <a:r>
              <a:t>4 frames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onsolas"/>
              </a:defRPr>
            </a:pPr>
            <a:r>
              <a:t>z ~ qφ(z|text)  →  [1 step × 48 layers]  →  video     ~3.5–8 seconds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3949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Key Insight: The noise IS the information</a:t>
            </a:r>
          </a:p>
          <a:p>
            <a:pPr>
              <a:spcAft>
                <a:spcPts val="639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Instead of random noise that requires 8 steps to refine, learn noise that already encodes the target video's structure. The 48-layer DiT then acts as a single-step decoder.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VFM Evolution: v1a → v1f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822960" cy="5486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v1a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BD5E1"/>
                </a:solidFill>
                <a:latin typeface="Calibri"/>
              </a:defRPr>
            </a:pPr>
            <a:r>
              <a:t>Vanilla MLP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716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Pooled text → same noise for all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1920240"/>
            <a:ext cx="54864" cy="2286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1005840" y="2103120"/>
            <a:ext cx="274320" cy="182880"/>
          </a:xfrm>
          <a:prstGeom prst="triangl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822960" cy="5486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v1b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94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BD5E1"/>
                </a:solidFill>
                <a:latin typeface="Calibri"/>
              </a:defRPr>
            </a:pPr>
            <a:r>
              <a:t>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Cross-attn + positions → per-token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+19.1M params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5568" y="2743200"/>
            <a:ext cx="54864" cy="2286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1005840" y="2926080"/>
            <a:ext cx="274320" cy="182880"/>
          </a:xfrm>
          <a:prstGeom prst="triangl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822960" cy="5486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v1c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017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BD5E1"/>
                </a:solidFill>
                <a:latin typeface="Calibri"/>
              </a:defRPr>
            </a:pPr>
            <a:r>
              <a:t>Diversity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0175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Temporal + spatial diversity regularization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Anti-collapse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5568" y="3566160"/>
            <a:ext cx="54864" cy="2286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005840" y="3749040"/>
            <a:ext cx="274320" cy="182880"/>
          </a:xfrm>
          <a:prstGeom prst="triangl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822960" cy="54864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v1d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840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Trajectory</a:t>
            </a:r>
            <a:br/>
            <a:r>
              <a:t>Distill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840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Per-token σ + teacher ODE trajectory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8BDF8"/>
                </a:solidFill>
                <a:latin typeface="Calibri"/>
              </a:defRPr>
            </a:pPr>
            <a:r>
              <a:t>+SigmaHead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5568" y="4389120"/>
            <a:ext cx="54864" cy="2286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1005840" y="4572000"/>
            <a:ext cx="274320" cy="182880"/>
          </a:xfrm>
          <a:prstGeom prst="triangl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4663440"/>
            <a:ext cx="822960" cy="5486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v1e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663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BD5E1"/>
                </a:solidFill>
                <a:latin typeface="Calibri"/>
              </a:defRPr>
            </a:pPr>
            <a:r>
              <a:t>Content</a:t>
            </a:r>
            <a:br/>
            <a:r>
              <a:t>Router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6634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Complexity-adaptive σ from GT latent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4663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+Router 1.6M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5568" y="5212080"/>
            <a:ext cx="54864" cy="2286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1005840" y="5394960"/>
            <a:ext cx="274320" cy="182880"/>
          </a:xfrm>
          <a:prstGeom prst="triangl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" y="5486400"/>
            <a:ext cx="822960" cy="548640"/>
          </a:xfrm>
          <a:prstGeom prst="roundRect">
            <a:avLst/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v1f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486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Spherical</a:t>
            </a:r>
            <a:br/>
            <a:r>
              <a:t>Cauchy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4864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Noise on S¹²⁷: direction (μ̂) + magnitude + 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5486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ADE80"/>
                </a:solidFill>
                <a:latin typeface="Calibri"/>
              </a:defRPr>
            </a:pPr>
            <a:r>
              <a:t>This work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440680"/>
            <a:ext cx="10789920" cy="731520"/>
          </a:xfrm>
          <a:prstGeom prst="roundRect">
            <a:avLst/>
          </a:prstGeom>
          <a:noFill/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v1f branches from v1d (not v1e) — same adapter architecture, reinterpreted outputs. Weights transfer directly.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Gaussian vs Spherical Cauchy Noise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7171"/>
                </a:solidFill>
                <a:latin typeface="Calibri"/>
              </a:defRPr>
            </a:pPr>
            <a:r>
              <a:t>v1d: Gaussian Reparameterization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29200" cy="43891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2000" b="1">
                <a:solidFill>
                  <a:srgbClr val="F87171"/>
                </a:solidFill>
                <a:latin typeface="Calibri"/>
              </a:defRPr>
            </a:pPr>
            <a:r>
              <a:t>z = μ + σ · ε,  ε ~ N(0, I)</a:t>
            </a:r>
          </a:p>
          <a:p>
            <a:pPr>
              <a:spcAft>
                <a:spcPts val="63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600" b="1">
                <a:solidFill>
                  <a:srgbClr val="CBD5E1"/>
                </a:solidFill>
                <a:latin typeface="Calibri"/>
              </a:defRPr>
            </a:pPr>
            <a:r>
              <a:t>Properties: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Noise lives in unbounded R¹²⁸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Direction and magnitude are entangled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Gaussian tails decay exponentially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KL = ½[μ² + σ² - log(σ²) - 1] per dim</a:t>
            </a:r>
          </a:p>
          <a:p>
            <a:pPr>
              <a:spcAft>
                <a:spcPts val="63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600" b="1">
                <a:solidFill>
                  <a:srgbClr val="F87171"/>
                </a:solidFill>
                <a:latin typeface="Calibri"/>
              </a:defRPr>
            </a:pPr>
            <a:r>
              <a:t>Problems: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All 128 dims treated equally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No geometric structure to noise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Hard to measure diversity meaningfully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σ collapse → delta function (mode collapse)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Calibri"/>
              </a:defRPr>
            </a:pPr>
            <a:r>
              <a:t>v1f: Spherical Cauchy on S¹²⁷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5029200" cy="43891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2000" b="1">
                <a:solidFill>
                  <a:srgbClr val="4ADE80"/>
                </a:solidFill>
                <a:latin typeface="Calibri"/>
              </a:defRPr>
            </a:pPr>
            <a:r>
              <a:t>z = ‖μ‖ · SpCauchy(μ̂, κ)</a:t>
            </a:r>
          </a:p>
          <a:p>
            <a:pPr>
              <a:spcAft>
                <a:spcPts val="63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600" b="1">
                <a:solidFill>
                  <a:srgbClr val="CBD5E1"/>
                </a:solidFill>
                <a:latin typeface="Calibri"/>
              </a:defRPr>
            </a:pPr>
            <a:r>
              <a:t>Properties: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Direction lives on unit hypersphere S¹²⁷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Direction and magnitude are separated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Heavy tails → broader exploration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KL = (D-1)/2 · log(1 + 1/κ) — clean!</a:t>
            </a:r>
          </a:p>
          <a:p>
            <a:pPr>
              <a:spcAft>
                <a:spcPts val="63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Advantages: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μ̂ = what kind of noise (direction)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‖μ‖ = how much noise (magnitude)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κ = how confident (concentration/token)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Geodesic distance = meaningful diversity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3474720"/>
            <a:ext cx="731520" cy="73152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A78BFA"/>
                </a:solidFill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Direction-Magnitude 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Same adapter architecture (NoiseAdapterV1b) — outputs reinterpreted geometrically. Weights transfer from v1d.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743200" cy="91440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Adapter Output</a:t>
            </a:r>
            <a:br/>
            <a:r>
              <a:t>μ [B, 1344, 128]  log_σ [B, 1344, 128]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1368" y="2743200"/>
            <a:ext cx="54864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691640" y="3154680"/>
            <a:ext cx="274320" cy="182880"/>
          </a:xfrm>
          <a:prstGeom prst="triangl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2743200" cy="137160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onsolas"/>
              </a:defRPr>
            </a:pPr>
            <a:r>
              <a:t>μ̂ = normalize(μ)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Direction on S¹²⁷</a:t>
            </a:r>
            <a:br/>
            <a:r>
              <a:t>"What kind of noise"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58968" y="2743200"/>
            <a:ext cx="54864" cy="457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5349240" y="3154680"/>
            <a:ext cx="274320" cy="18288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0" y="3383280"/>
            <a:ext cx="2743200" cy="137160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DE80"/>
                </a:solidFill>
                <a:latin typeface="Consolas"/>
              </a:defRPr>
            </a:pPr>
            <a:r>
              <a:t>r = ‖μ‖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97763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Magnitude (scalar/token)</a:t>
            </a:r>
            <a:br/>
            <a:r>
              <a:t>"How much noise"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16568" y="2743200"/>
            <a:ext cx="54864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9006840" y="3154680"/>
            <a:ext cx="274320" cy="182880"/>
          </a:xfrm>
          <a:prstGeom prst="triangl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3383280"/>
            <a:ext cx="2743200" cy="137160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Consolas"/>
              </a:defRPr>
            </a:pPr>
            <a:r>
              <a:t>κ = exp(mean(log_σ))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97763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Concentration (scalar/token)</a:t>
            </a:r>
            <a:br/>
            <a:r>
              <a:t>"How confident"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01368" y="4754880"/>
            <a:ext cx="54864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1691640" y="5074920"/>
            <a:ext cx="274320" cy="182880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58968" y="4754880"/>
            <a:ext cx="54864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5349240" y="5074920"/>
            <a:ext cx="274320" cy="182880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16568" y="4754880"/>
            <a:ext cx="54864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9006840" y="5074920"/>
            <a:ext cx="274320" cy="182880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71600" y="5303520"/>
            <a:ext cx="8686800" cy="109728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394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2200" b="1">
                <a:solidFill>
                  <a:srgbClr val="A78BFA"/>
                </a:solidFill>
                <a:latin typeface="Calibri"/>
              </a:defRPr>
            </a:pPr>
            <a:r>
              <a:t>z_dir ~ SphericalCauchy(μ̂, κ)     →     z = r · z_dir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Sample direction on hypersphere, then scale by learned magnitude per 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Spherical Cauchy Distribution on S¹²⁷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Sampling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500" b="1">
                <a:solidFill>
                  <a:srgbClr val="CBD5E1"/>
                </a:solidFill>
                <a:latin typeface="Consolas"/>
              </a:defRPr>
            </a:pPr>
            <a:r>
              <a:t>1. Inverse CDF for Cauchy:</a:t>
            </a:r>
          </a:p>
          <a:p>
            <a:pPr>
              <a:spcAft>
                <a:spcPts val="639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t = tan(π(u - 0.5)),  u ~ Uniform(0,1)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639"/>
              </a:spcAft>
              <a:defRPr sz="1500" b="1">
                <a:solidFill>
                  <a:srgbClr val="CBD5E1"/>
                </a:solidFill>
                <a:latin typeface="Consolas"/>
              </a:defRPr>
            </a:pPr>
            <a:r>
              <a:t>2. Scale by concentration:</a:t>
            </a:r>
          </a:p>
          <a:p>
            <a:pPr>
              <a:spcAft>
                <a:spcPts val="639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r = √κ · t,  clamp to [-10, 10]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639"/>
              </a:spcAft>
              <a:defRPr sz="1500" b="1">
                <a:solidFill>
                  <a:srgbClr val="CBD5E1"/>
                </a:solidFill>
                <a:latin typeface="Consolas"/>
              </a:defRPr>
            </a:pPr>
            <a:r>
              <a:t>3. Random tangent vector via Gram-Schmidt:</a:t>
            </a:r>
          </a:p>
          <a:p>
            <a:pPr>
              <a:spcAft>
                <a:spcPts val="639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tangent = noise - (noise · μ̂)μ̂</a:t>
            </a:r>
          </a:p>
          <a:p>
            <a:pPr>
              <a:spcAft>
                <a:spcPts val="639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tangent = normalize(tangent)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639"/>
              </a:spcAft>
              <a:defRPr sz="1500" b="1">
                <a:solidFill>
                  <a:srgbClr val="CBD5E1"/>
                </a:solidFill>
                <a:latin typeface="Consolas"/>
              </a:defRPr>
            </a:pPr>
            <a:r>
              <a:t>4. Exponential map:</a:t>
            </a:r>
          </a:p>
          <a:p>
            <a:pPr>
              <a:spcAft>
                <a:spcPts val="639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sample = cos(r)·μ̂ + sin(r)·tangent</a:t>
            </a:r>
          </a:p>
          <a:p>
            <a:pPr>
              <a:spcAft>
                <a:spcPts val="639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sample = normalize(sample)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029200" cy="20116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κ Controls Concentration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onsolas"/>
              </a:defRPr>
            </a:pPr>
            <a:r>
              <a:t>κ →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Peaked at μ̂ (delta-like)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965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onsolas"/>
              </a:defRPr>
            </a:pPr>
            <a:r>
              <a:t>KL → 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onsolas"/>
              </a:defRPr>
            </a:pPr>
            <a:r>
              <a:t>κ = 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Moderate spread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onsolas"/>
              </a:defRPr>
            </a:pPr>
            <a:r>
              <a:t>KL = 44.2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onsolas"/>
              </a:defRPr>
            </a:pPr>
            <a:r>
              <a:t>κ =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06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Target concentration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6060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onsolas"/>
              </a:defRPr>
            </a:pPr>
            <a:r>
              <a:t>KL = 25.2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Consolas"/>
              </a:defRPr>
            </a:pPr>
            <a:r>
              <a:t>κ → 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9260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Uniform on sphere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9260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onsolas"/>
              </a:defRPr>
            </a:pPr>
            <a:r>
              <a:t>KL →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029200" cy="22860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Spherical KL Divergence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06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600" b="1">
                <a:solidFill>
                  <a:srgbClr val="CBD5E1"/>
                </a:solidFill>
                <a:latin typeface="Consolas"/>
              </a:defRPr>
            </a:pPr>
            <a:r>
              <a:t>KL(SpCauchy || Uniform)</a:t>
            </a:r>
          </a:p>
          <a:p>
            <a:pPr>
              <a:spcAft>
                <a:spcPts val="639"/>
              </a:spcAft>
              <a:defRPr sz="2000" b="1">
                <a:solidFill>
                  <a:srgbClr val="FFFFFF"/>
                </a:solidFill>
                <a:latin typeface="Consolas"/>
              </a:defRPr>
            </a:pPr>
            <a:r>
              <a:t>  = (D-1)/2 · log(1 + 1/κ)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onsolas"/>
              </a:defRPr>
            </a:pPr>
            <a:r>
              <a:t>D = 128 (latent dimension)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onsolas"/>
              </a:defRPr>
            </a:pPr>
            <a:r>
              <a:t>Always ≥ 0, monotonically decreasing in κ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onsolas"/>
              </a:defRPr>
            </a:pPr>
            <a:r>
              <a:t>Higher κ = more spread = lower KL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v1f Full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011680" cy="91440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Text Encoder</a:t>
            </a:r>
            <a:br/>
            <a:r>
              <a:t>(Gemma, frozen)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468880"/>
            <a:ext cx="2011680" cy="91440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Noise Adapter qφ</a:t>
            </a:r>
            <a:br/>
            <a:r>
              <a:t>(4-layer Transformer)</a:t>
            </a:r>
            <a:br/>
            <a:r>
              <a:t>19.1M params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2011680" cy="91440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Reparameterize</a:t>
            </a:r>
            <a:br/>
            <a:r>
              <a:t>μ̂ = norm(μ), r = ‖μ‖</a:t>
            </a:r>
            <a:br/>
            <a:r>
              <a:t>κ = exp(mean(log_σ))</a:t>
            </a:r>
            <a:br/>
            <a:r>
              <a:t>z = r · SpCauchy(μ̂, κ)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5608" y="2103120"/>
            <a:ext cx="54864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1325880" y="2331720"/>
            <a:ext cx="274320" cy="182880"/>
          </a:xfrm>
          <a:prstGeom prst="triangl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35608" y="3383280"/>
            <a:ext cx="54864" cy="548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1325880" y="3886200"/>
            <a:ext cx="274320" cy="182880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68880" y="2898648"/>
            <a:ext cx="7315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>
            <a:off x="3154680" y="2816352"/>
            <a:ext cx="182880" cy="219456"/>
          </a:xfrm>
          <a:prstGeom prst="rtTriangl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2560320"/>
            <a:ext cx="1828800" cy="73152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SigmaHead</a:t>
            </a:r>
            <a:br/>
            <a:r>
              <a:t>128→256→256→1</a:t>
            </a:r>
            <a:br/>
            <a:r>
              <a:t>99K params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8808" y="3291840"/>
            <a:ext cx="54864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4069080" y="3520440"/>
            <a:ext cx="274320" cy="182880"/>
          </a:xfrm>
          <a:prstGeom prst="triangl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Consolas"/>
              </a:defRPr>
            </a:pPr>
            <a:r>
              <a:t>σ_i ∈ [0.05, 0.95]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4114800"/>
            <a:ext cx="2743200" cy="91440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Noisy Interpolation</a:t>
            </a:r>
            <a:br/>
            <a:r>
              <a:t>x_t[i] = (1-σ_i)·x₀[i] + σ_i·z[i]</a:t>
            </a:r>
            <a:br/>
            <a:r>
              <a:t>Per-token noise levels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5303520"/>
            <a:ext cx="137160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GT x₀</a:t>
            </a:r>
            <a:br/>
            <a:r>
              <a:t>(latents)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7" y="5029200"/>
            <a:ext cx="54864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3840479" y="5166360"/>
            <a:ext cx="274320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68880" y="4544568"/>
            <a:ext cx="73152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>
            <a:off x="3154680" y="4462272"/>
            <a:ext cx="182880" cy="219456"/>
          </a:xfrm>
          <a:prstGeom prst="rt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4544568"/>
            <a:ext cx="457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Triangle 22"/>
          <p:cNvSpPr/>
          <p:nvPr/>
        </p:nvSpPr>
        <p:spPr>
          <a:xfrm>
            <a:off x="6446520" y="4462272"/>
            <a:ext cx="182880" cy="219456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0" y="3931920"/>
            <a:ext cx="2286000" cy="128016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48-Layer LTX-2 DiT</a:t>
            </a:r>
            <a:br/>
            <a:r>
              <a:t>(LoRA fine-tuned)</a:t>
            </a:r>
            <a:br/>
            <a:r>
              <a:t>Flow Map fθ</a:t>
            </a:r>
            <a:br/>
            <a:r>
              <a:t>~233M trainable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4544568"/>
            <a:ext cx="457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Triangle 25"/>
          <p:cNvSpPr/>
          <p:nvPr/>
        </p:nvSpPr>
        <p:spPr>
          <a:xfrm>
            <a:off x="9281160" y="4462272"/>
            <a:ext cx="182880" cy="219456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18320" y="3931920"/>
            <a:ext cx="2103120" cy="128016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x̂₀ = z - v</a:t>
            </a:r>
            <a:br/>
            <a:r>
              <a:t>(1-step decode)</a:t>
            </a:r>
            <a:br/>
            <a:r>
              <a:t>↓</a:t>
            </a:r>
            <a:br/>
            <a:r>
              <a:t>VAE Decoder</a:t>
            </a:r>
            <a:br/>
            <a:r>
              <a:t>↓</a:t>
            </a:r>
            <a:br/>
            <a:r>
              <a:t>Video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Loss Components: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alibri"/>
              </a:defRPr>
            </a:pPr>
            <a:r>
              <a:t>L_mf: Flow matching MSE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Calibri"/>
              </a:defRPr>
            </a:pPr>
            <a:r>
              <a:t>L_kl: Spherical KL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Calibri"/>
              </a:defRPr>
            </a:pPr>
            <a:r>
              <a:t>L_div: Diversity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Calibri"/>
              </a:defRPr>
            </a:pPr>
            <a:r>
              <a:t>L_mag: ‖μ‖ regularization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Calibri"/>
              </a:defRPr>
            </a:pPr>
            <a:r>
              <a:t>L_κ: Kappa pull+entropy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L_σ: Sigma pull+entropy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Per-Token Concentration: κ per Spatial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Each of 1344 tokens gets its own κ (concentration) and σ (noise level) — heterogeneous denoising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BD5E1"/>
                </a:solidFill>
                <a:latin typeface="Calibri"/>
              </a:defRPr>
            </a:pPr>
            <a:r>
              <a:t>Frame 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11096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04288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96312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4712" y="2496312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17904" y="2496312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11096" y="2496312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04288" y="2496312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80" y="2496312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889503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24712" y="2889503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17904" y="2889503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11096" y="2889503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04288" y="2889503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97480" y="2889503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24712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17904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11096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04288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97480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BD5E1"/>
                </a:solidFill>
                <a:latin typeface="Calibri"/>
              </a:defRPr>
            </a:pPr>
            <a:r>
              <a:t>Frame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67912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61104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54296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47488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40680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74720" y="2496312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67912" y="2496312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61104" y="2496312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54296" y="2496312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47488" y="2496312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40680" y="2496312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74720" y="2889503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67912" y="2889503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1104" y="2889503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54296" y="2889503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47488" y="2889503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40680" y="2889503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74720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867912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61104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54296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47488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40680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BD5E1"/>
                </a:solidFill>
                <a:latin typeface="Calibri"/>
              </a:defRPr>
            </a:pPr>
            <a:r>
              <a:t>Frame 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611112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04304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397496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90688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83880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2496312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611112" y="2496312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004304" y="2496312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97496" y="2496312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90688" y="2496312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83880" y="2496312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17920" y="2889503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611112" y="2889503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004304" y="2889503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97496" y="2889503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90688" y="2889503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83880" y="2889503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17920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611112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04304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397496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90688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83880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6112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BD5E1"/>
                </a:solidFill>
                <a:latin typeface="Calibri"/>
              </a:defRPr>
            </a:pPr>
            <a:r>
              <a:t>Frame 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61120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54312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747504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140696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33888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927080" y="2103120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961120" y="2496312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54312" y="2496312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747504" y="2496312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140696" y="2496312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533888" y="2496312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927080" y="2496312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61120" y="2889503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354312" y="2889503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747504" y="2889503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140696" y="2889503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533888" y="2889503"/>
            <a:ext cx="36576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927080" y="2889503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961120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354312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747504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140696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533888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927080" y="3282696"/>
            <a:ext cx="36576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" y="4114800"/>
            <a:ext cx="27432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37160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/>
              </a:defRPr>
            </a:pPr>
            <a:r>
              <a:t>High κ (concentrated)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40480" y="4114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Edges, textures — precise noise direction matters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4663440"/>
            <a:ext cx="27432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371600" y="4663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Medium κ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40480" y="4663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Moderate regions — balanced exploration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14400" y="5212080"/>
            <a:ext cx="274320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3716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Low κ (broad)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40480" y="5212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Flat regions (sky, walls) — any direction works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31520" y="5760720"/>
            <a:ext cx="10515600" cy="73152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97280" y="58064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800" b="1">
                <a:solidFill>
                  <a:srgbClr val="4ADE80"/>
                </a:solidFill>
                <a:latin typeface="Calibri"/>
              </a:defRPr>
            </a:pPr>
            <a:r>
              <a:t>Key: The adapter learns WHERE to be precise vs WHERE to explore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Faces/edges need exact noise direction (κ↑), sky/background can use any direction (κ↓)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v1f Loss Function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515600" cy="73152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L = L_mf + w_kl·L_kl + L_div + w_mag·L_mag + w_κ·L_κ + w_σ·L_σ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20116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L_mf  —  Flow Matching MSE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MSE(v_pred, v_target)</a:t>
            </a:r>
            <a:br/>
            <a:r>
              <a:t>v = z - x₀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Core loss: predicted velocity</a:t>
            </a:r>
            <a:br/>
            <a:r>
              <a:t>matches target velocity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011680"/>
            <a:ext cx="3383280" cy="20116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19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L_kl  —  Spherical KL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468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(D-1)/2 · log(1+1/κ)</a:t>
            </a:r>
            <a:br/>
            <a:r>
              <a:t>w = 3.0, free_bits = 0.05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2004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Regularizes noise distribution</a:t>
            </a:r>
            <a:br/>
            <a:r>
              <a:t>Prevents adapter collapse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3383280" cy="20116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L_mag  —  Magnitude Reg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468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(‖μ‖ - 1.0)²</a:t>
            </a:r>
            <a:br/>
            <a:r>
              <a:t>w = 0.1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2004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Keeps noise magnitude near</a:t>
            </a:r>
            <a:br/>
            <a:r>
              <a:t>target (prevents scale drift)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3383280" cy="20116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L_κ  —  Kappa Reg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54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(κ_mean - 2.0)² + entropy</a:t>
            </a:r>
            <a:br/>
            <a:r>
              <a:t>w_pull=0.05, w_ent=0.01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864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Pull κ above 1.0 (KL activates)</a:t>
            </a:r>
            <a:br/>
            <a:r>
              <a:t>+ encourage per-token diversity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297680"/>
            <a:ext cx="3383280" cy="20116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19" y="4389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L_σ  —  Sigma Pull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19" y="4754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(σ_mean - 0.3)²</a:t>
            </a:r>
            <a:br/>
            <a:r>
              <a:t>w = 0.1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19" y="54864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Prevent σ collapse to floor</a:t>
            </a:r>
            <a:br/>
            <a:r>
              <a:t>(lower σ = lower MSE = trap)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297680"/>
            <a:ext cx="3383280" cy="20116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389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BD5E1"/>
                </a:solidFill>
                <a:latin typeface="Calibri"/>
              </a:defRPr>
            </a:pPr>
            <a:r>
              <a:t>L_div  —  Diversity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754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-std(μ) tokens/frames</a:t>
            </a:r>
            <a:br/>
            <a:r>
              <a:t>w = 0.1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4864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Spatial + temporal diversity</a:t>
            </a:r>
            <a:br/>
            <a:r>
              <a:t>of adapter noise patterns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Training Diagnostics: 3 Failure Modes &amp; Fixes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Calibri"/>
              </a:defRPr>
            </a:pPr>
            <a:r>
              <a:t>KL Permanently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Old formula: (D-1)/2 · [log(κ) - log(1+κ)]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97280"/>
            <a:ext cx="3200400" cy="914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051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Root Cause: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325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Always negative for our parametrization</a:t>
            </a:r>
            <a:br/>
            <a:r>
              <a:t>(higher κ = MORE spread, opposite of vMF)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527048"/>
            <a:ext cx="36576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Triangle 9"/>
          <p:cNvSpPr/>
          <p:nvPr/>
        </p:nvSpPr>
        <p:spPr>
          <a:xfrm>
            <a:off x="7909560" y="1444752"/>
            <a:ext cx="182880" cy="219456"/>
          </a:xfrm>
          <a:prstGeom prst="rt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474720" cy="914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051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Fix: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325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Fixed formula: (D-1)/2 · log(1 + 1/κ)</a:t>
            </a:r>
            <a:br/>
            <a:r>
              <a:t>Always ≥ 0, correct sign convention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Sigma Collapse to σ_min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sigma_mean: 0.495 → 0.051 (~σ_min=0.05)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926080"/>
            <a:ext cx="3200400" cy="914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880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alibri"/>
              </a:defRPr>
            </a:pPr>
            <a:r>
              <a:t>Root Cause: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154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Lower σ = less noise = lower MSE</a:t>
            </a:r>
            <a:br/>
            <a:r>
              <a:t>Sigma head finds trivial solution σ→0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355848"/>
            <a:ext cx="36576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>
            <a:off x="7909560" y="3273552"/>
            <a:ext cx="182880" cy="219456"/>
          </a:xfrm>
          <a:prstGeom prst="rt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2926080"/>
            <a:ext cx="3474720" cy="914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Fix: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154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Added sigma_mean_pull: (σ_mean - 0.3)² × 0.1</a:t>
            </a:r>
            <a:br/>
            <a:r>
              <a:t>Counteracts MSE incentive to minimize σ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‖μ‖ Drift Above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mu_norm_mean: 1.53 vs target 1.0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754880"/>
            <a:ext cx="3200400" cy="914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7091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Root Cause: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983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magnitude_reg_weight=0.01 too weak</a:t>
            </a:r>
            <a:br/>
            <a:r>
              <a:t>vs flow matching loss ~0.016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5184648"/>
            <a:ext cx="36576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>
            <a:off x="7909560" y="5102352"/>
            <a:ext cx="182880" cy="219456"/>
          </a:xfrm>
          <a:prstGeom prst="rt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46720" y="4754880"/>
            <a:ext cx="3474720" cy="914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4709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Fix: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983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Increased magnitude_reg: 0.01 → 0.1</a:t>
            </a:r>
            <a:br/>
            <a:r>
              <a:t>10x stronger penalty on scale drift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Geodesic Diversity on S¹²⁷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Angular distance between noise directions is geometrically meaningful — unlike Euclidean distance in R¹²⁸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2011680"/>
            <a:ext cx="3291840" cy="3291840"/>
          </a:xfrm>
          <a:prstGeom prst="ellipse">
            <a:avLst/>
          </a:prstGeom>
          <a:noFill/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3474720"/>
            <a:ext cx="3291840" cy="365760"/>
          </a:xfrm>
          <a:prstGeom prst="ellipse">
            <a:avLst/>
          </a:prstGeom>
          <a:noFill/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03120" y="2926080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2788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onsolas"/>
              </a:defRPr>
            </a:pPr>
            <a:r>
              <a:t>μ̂₁</a:t>
            </a:r>
          </a:p>
        </p:txBody>
      </p:sp>
      <p:sp>
        <p:nvSpPr>
          <p:cNvPr id="8" name="Oval 7"/>
          <p:cNvSpPr/>
          <p:nvPr/>
        </p:nvSpPr>
        <p:spPr>
          <a:xfrm>
            <a:off x="3200400" y="2286000"/>
            <a:ext cx="182880" cy="1828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148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onsolas"/>
              </a:defRPr>
            </a:pPr>
            <a:r>
              <a:t>μ̂₂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3474720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3337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μ̂₃</a:t>
            </a:r>
          </a:p>
        </p:txBody>
      </p:sp>
      <p:sp>
        <p:nvSpPr>
          <p:cNvPr id="12" name="Oval 11"/>
          <p:cNvSpPr/>
          <p:nvPr/>
        </p:nvSpPr>
        <p:spPr>
          <a:xfrm>
            <a:off x="2560320" y="4389120"/>
            <a:ext cx="182880" cy="1828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4251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onsolas"/>
              </a:defRPr>
            </a:pPr>
            <a:r>
              <a:t>μ̂₄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29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S¹²⁷ hypersphere</a:t>
            </a:r>
            <a:br/>
            <a:r>
              <a:t>(shown as S² for visualization)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Diversity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377440"/>
            <a:ext cx="5303520" cy="10058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423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Geodesic Distance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97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d(μ̂_i, μ̂_j) = arccos(μ̂_i · μ̂_j)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017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Angular distance in [0, π] radians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657600"/>
            <a:ext cx="5303520" cy="10058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703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Geodesic Diversity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977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mean(d(μ̂_i, μ̂_j)) for all pairs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Higher = more diverse directions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937760"/>
            <a:ext cx="5303520" cy="10058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983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Observed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257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1.35 rad (≈77°)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577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Well-spread on S¹²⁷ (max = π/2 ≈ 90° for random)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v1f Generates 4 Frames in 1 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The adapter produces 1344 tokens of structured noise — 336 tokens per frame, each with unique direction and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Frame 0  (tokens 0–335)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μ̂ directions</a:t>
            </a:r>
            <a:br/>
            <a:r>
              <a:t>336 unique dirs on S¹²⁷</a:t>
            </a:r>
          </a:p>
        </p:txBody>
      </p:sp>
      <p:sp>
        <p:nvSpPr>
          <p:cNvPr id="6" name="Rectangle 5"/>
          <p:cNvSpPr/>
          <p:nvPr/>
        </p:nvSpPr>
        <p:spPr>
          <a:xfrm>
            <a:off x="1709928" y="2651760"/>
            <a:ext cx="54864" cy="182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1600200" y="2788920"/>
            <a:ext cx="274320" cy="18288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κ per token</a:t>
            </a:r>
            <a:br/>
            <a:r>
              <a:t>Edges: κ=5–10, Flat: κ=0.5–2</a:t>
            </a:r>
          </a:p>
        </p:txBody>
      </p:sp>
      <p:sp>
        <p:nvSpPr>
          <p:cNvPr id="9" name="Rectangle 8"/>
          <p:cNvSpPr/>
          <p:nvPr/>
        </p:nvSpPr>
        <p:spPr>
          <a:xfrm>
            <a:off x="1709928" y="3657600"/>
            <a:ext cx="54864" cy="182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1600200" y="3794760"/>
            <a:ext cx="274320" cy="18288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σ_i per token</a:t>
            </a:r>
            <a:br/>
            <a:r>
              <a:t>σ ∈ [0.05, 0.95]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09928" y="4663440"/>
            <a:ext cx="54864" cy="182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1600200" y="4800600"/>
            <a:ext cx="274320" cy="18288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502920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z_i = r_i · SpCauchy(μ̂_i, κ_i)</a:t>
            </a:r>
            <a:br/>
            <a:r>
              <a:t>336 structured noise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Frame 1  (tokens 336–671)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01168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μ̂ directions</a:t>
            </a:r>
            <a:br/>
            <a:r>
              <a:t>336 unique dirs on S¹²⁷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44568" y="2651760"/>
            <a:ext cx="54864" cy="182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4434840" y="2788920"/>
            <a:ext cx="274320" cy="18288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91840" y="301752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κ per token</a:t>
            </a:r>
            <a:br/>
            <a:r>
              <a:t>Edges: κ=5–10, Flat: κ=0.5–2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44568" y="3657600"/>
            <a:ext cx="54864" cy="182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4434840" y="3794760"/>
            <a:ext cx="274320" cy="18288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91840" y="402336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σ_i per token</a:t>
            </a:r>
            <a:br/>
            <a:r>
              <a:t>σ ∈ [0.05, 0.95]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44568" y="4663440"/>
            <a:ext cx="54864" cy="182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434840" y="4800600"/>
            <a:ext cx="274320" cy="18288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91840" y="502920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z_i = r_i · SpCauchy(μ̂_i, κ_i)</a:t>
            </a:r>
            <a:br/>
            <a:r>
              <a:t>336 structured noise tokens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Frame 2  (tokens 672–1007)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01168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μ̂ directions</a:t>
            </a:r>
            <a:br/>
            <a:r>
              <a:t>336 unique dirs on S¹²⁷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9208" y="2651760"/>
            <a:ext cx="54864" cy="182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7269480" y="2788920"/>
            <a:ext cx="274320" cy="18288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26480" y="301752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κ per token</a:t>
            </a:r>
            <a:br/>
            <a:r>
              <a:t>Edges: κ=5–10, Flat: κ=0.5–2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79208" y="3657600"/>
            <a:ext cx="54864" cy="182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269480" y="3794760"/>
            <a:ext cx="274320" cy="18288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26480" y="402336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σ_i per token</a:t>
            </a:r>
            <a:br/>
            <a:r>
              <a:t>σ ∈ [0.05, 0.95]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79208" y="4663440"/>
            <a:ext cx="54864" cy="182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7269480" y="4800600"/>
            <a:ext cx="274320" cy="18288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26480" y="502920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z_i = r_i · SpCauchy(μ̂_i, κ_i)</a:t>
            </a:r>
            <a:br/>
            <a:r>
              <a:t>336 structured noise tokens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Frame 3  (tokens 1008–1343)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20" y="201168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μ̂ directions</a:t>
            </a:r>
            <a:br/>
            <a:r>
              <a:t>336 unique dirs on S¹²⁷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13848" y="2651760"/>
            <a:ext cx="54864" cy="182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10104120" y="2788920"/>
            <a:ext cx="274320" cy="18288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61120" y="301752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κ per token</a:t>
            </a:r>
            <a:br/>
            <a:r>
              <a:t>Edges: κ=5–10, Flat: κ=0.5–2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13848" y="3657600"/>
            <a:ext cx="54864" cy="182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10104120" y="3794760"/>
            <a:ext cx="274320" cy="18288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961120" y="402336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σ_i per token</a:t>
            </a:r>
            <a:br/>
            <a:r>
              <a:t>σ ∈ [0.05, 0.95]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13848" y="4663440"/>
            <a:ext cx="54864" cy="182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10104120" y="4800600"/>
            <a:ext cx="274320" cy="182880"/>
          </a:xfrm>
          <a:prstGeom prst="triangl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961120" y="5029200"/>
            <a:ext cx="25603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z_i = r_i · SpCauchy(μ̂_i, κ_i)</a:t>
            </a:r>
            <a:br/>
            <a:r>
              <a:t>336 structured noise tokens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09928" y="5669280"/>
            <a:ext cx="54864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1600200" y="5760720"/>
            <a:ext cx="274320" cy="18288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44568" y="5669280"/>
            <a:ext cx="54864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4434840" y="5760720"/>
            <a:ext cx="274320" cy="18288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79208" y="5669280"/>
            <a:ext cx="54864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7269480" y="5760720"/>
            <a:ext cx="274320" cy="18288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213848" y="5669280"/>
            <a:ext cx="54864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10104120" y="5760720"/>
            <a:ext cx="274320" cy="18288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16203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48-Layer DiT  →  Single Forward Pass  →  4 Clean Frames (768×448 each)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Metrics to Monitor (W&amp;B)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onsolas"/>
              </a:defRPr>
            </a:pPr>
            <a:r>
              <a:t>vfm/loss_mf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Flow matching MSE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Should decrease steadily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onsolas"/>
              </a:defRPr>
            </a:pPr>
            <a:r>
              <a:t>0.21 → 0.016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1097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onsolas"/>
              </a:defRPr>
            </a:pPr>
            <a:r>
              <a:t>vfm/loss_kl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74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Spherical KL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Should be &gt; 0 (was stuck at 0!)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onsolas"/>
              </a:defRPr>
            </a:pPr>
            <a:r>
              <a:t>0 → 8–80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187451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onsolas"/>
              </a:defRPr>
            </a:pPr>
            <a:r>
              <a:t>vfm/kappa_mean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Mean concentration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Should converge near target (2.0)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onsolas"/>
              </a:defRPr>
            </a:pPr>
            <a:r>
              <a:t>0.1 → 2.0+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2651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Calibri"/>
              </a:defRPr>
            </a:pPr>
            <a:r>
              <a:t>→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onsolas"/>
              </a:defRPr>
            </a:pPr>
            <a:r>
              <a:t>vfm/kappa_std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Concentration diversity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Higher = more per-token variation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429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onsolas"/>
              </a:defRPr>
            </a:pPr>
            <a:r>
              <a:t>0 → 3.0+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3429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vfm/sigma_mean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Mean noise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Should stay near 0.3 (not 0.05!)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78BFA"/>
                </a:solidFill>
                <a:latin typeface="Consolas"/>
              </a:defRPr>
            </a:pPr>
            <a:r>
              <a:t>0.5 → 0.3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4206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Calibri"/>
              </a:defRPr>
            </a:pPr>
            <a:r>
              <a:t>→ 0.3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83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onsolas"/>
              </a:defRPr>
            </a:pPr>
            <a:r>
              <a:t>vfm/mu_norm_mean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Noise magnitude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983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Should converge to target (1.0)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983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onsolas"/>
              </a:defRPr>
            </a:pPr>
            <a:r>
              <a:t>var → 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49834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7171"/>
                </a:solidFill>
                <a:latin typeface="Calibri"/>
              </a:defRPr>
            </a:pPr>
            <a:r>
              <a:t>→ 1.0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60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BD5E1"/>
                </a:solidFill>
                <a:latin typeface="Consolas"/>
              </a:defRPr>
            </a:pPr>
            <a:r>
              <a:t>vfm/geodesic_diversity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Angular spread (rad)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Higher = more diverse directions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onsolas"/>
              </a:defRPr>
            </a:pPr>
            <a:r>
              <a:t>→ 1.35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5760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BD5E1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Calibri"/>
              </a:defRPr>
            </a:pPr>
            <a:r>
              <a:t>Live dashboard: https://wandb.ai/snoozie/vfm-v1f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Benchmark: VFM vs LTX Desktop 8-Step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RTX 5090, image-to-video, excluding text encoding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286000" cy="548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Config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28800"/>
            <a:ext cx="2286000" cy="548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Desktop 8-step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828800"/>
            <a:ext cx="2286000" cy="548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VFM 1-step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828800"/>
            <a:ext cx="2286000" cy="548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Speedup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2286000" cy="457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CBD5E1"/>
                </a:solidFill>
              </a:defRPr>
            </a:pPr>
            <a:r>
              <a:t>5s 540p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423160"/>
            <a:ext cx="2286000" cy="457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7171"/>
                </a:solidFill>
              </a:defRPr>
            </a:pPr>
            <a:r>
              <a:t>~33s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423160"/>
            <a:ext cx="2286000" cy="457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4ADE80"/>
                </a:solidFill>
              </a:defRPr>
            </a:pPr>
            <a:r>
              <a:t>~3.8s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423160"/>
            <a:ext cx="2286000" cy="457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8.7x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926080"/>
            <a:ext cx="2286000" cy="457200"/>
          </a:xfrm>
          <a:prstGeom prst="round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CBD5E1"/>
                </a:solidFill>
              </a:defRPr>
            </a:pPr>
            <a:r>
              <a:t>5s 720p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926080"/>
            <a:ext cx="2286000" cy="457200"/>
          </a:xfrm>
          <a:prstGeom prst="round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7171"/>
                </a:solidFill>
              </a:defRPr>
            </a:pPr>
            <a:r>
              <a:t>~42s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926080"/>
            <a:ext cx="2286000" cy="457200"/>
          </a:xfrm>
          <a:prstGeom prst="round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4ADE80"/>
                </a:solidFill>
              </a:defRPr>
            </a:pPr>
            <a:r>
              <a:t>~4.5s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926080"/>
            <a:ext cx="2286000" cy="457200"/>
          </a:xfrm>
          <a:prstGeom prst="round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9.3x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429000"/>
            <a:ext cx="2286000" cy="457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CBD5E1"/>
                </a:solidFill>
              </a:defRPr>
            </a:pPr>
            <a:r>
              <a:t>5s 1080p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429000"/>
            <a:ext cx="2286000" cy="457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7171"/>
                </a:solidFill>
              </a:defRPr>
            </a:pPr>
            <a:r>
              <a:t>~76s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429000"/>
            <a:ext cx="2286000" cy="457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4ADE80"/>
                </a:solidFill>
              </a:defRPr>
            </a:pPr>
            <a:r>
              <a:t>~6.0s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429000"/>
            <a:ext cx="2286000" cy="457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12.7x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931920"/>
            <a:ext cx="2286000" cy="457200"/>
          </a:xfrm>
          <a:prstGeom prst="round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CBD5E1"/>
                </a:solidFill>
              </a:defRPr>
            </a:pPr>
            <a:r>
              <a:t>10s 540p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931920"/>
            <a:ext cx="2286000" cy="457200"/>
          </a:xfrm>
          <a:prstGeom prst="round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7171"/>
                </a:solidFill>
              </a:defRPr>
            </a:pPr>
            <a:r>
              <a:t>~44s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3931920"/>
            <a:ext cx="2286000" cy="457200"/>
          </a:xfrm>
          <a:prstGeom prst="round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4ADE80"/>
                </a:solidFill>
              </a:defRPr>
            </a:pPr>
            <a:r>
              <a:t>~4.5s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931920"/>
            <a:ext cx="2286000" cy="457200"/>
          </a:xfrm>
          <a:prstGeom prst="round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9.8x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434840"/>
            <a:ext cx="2286000" cy="457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CBD5E1"/>
                </a:solidFill>
              </a:defRPr>
            </a:pPr>
            <a:r>
              <a:t>20s 540p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434840"/>
            <a:ext cx="2286000" cy="457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7171"/>
                </a:solidFill>
              </a:defRPr>
            </a:pPr>
            <a:r>
              <a:t>~73s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4434840"/>
            <a:ext cx="2286000" cy="457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4ADE80"/>
                </a:solidFill>
              </a:defRPr>
            </a:pPr>
            <a:r>
              <a:t>~3.4s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4434840"/>
            <a:ext cx="2286000" cy="457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21.5x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120640"/>
            <a:ext cx="9875520" cy="1097280"/>
          </a:xfrm>
          <a:prstGeom prst="roundRect">
            <a:avLst/>
          </a:prstGeom>
          <a:solidFill>
            <a:srgbClr val="1A2A4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21208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600" b="1">
                <a:solidFill>
                  <a:srgbClr val="FBBF24"/>
                </a:solidFill>
                <a:latin typeface="Calibri"/>
              </a:defRPr>
            </a:pPr>
            <a:r>
              <a:t>Note: VFM times are theoretical projections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8x fewer transformer forward passes. Actual speedup depends on adapter overhead (~1-5%)</a:t>
            </a:r>
          </a:p>
          <a:p>
            <a:pPr>
              <a:spcAft>
                <a:spcPts val="639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and VAE decode time (constant). Longer videos benefit more (adapter is amortized).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97280" cy="411480"/>
          </a:xfrm>
          <a:prstGeom prst="roundRect">
            <a:avLst/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Validate v1f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5544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Run 6d3uvx1g with corrected KL, sigma pull, magnitude reg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39"/>
            <a:ext cx="1097280" cy="4114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1031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Enable Trajectory Distillation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2315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Switch distill_mode: output_match once v1f metrics are healthy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97280" cy="4114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Blocked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971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Benchmark Real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2918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Run vfm_benchmark.py --spherical with trained checkpoint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1097280" cy="4114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A78BFA"/>
                </a:solidFill>
              </a:defRPr>
            </a:pPr>
            <a:r>
              <a:t>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SLERP Interpolation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160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Experimental: use geodesic interpolation for flow matching x_t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79"/>
            <a:ext cx="1097280" cy="4114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94A3B8"/>
                </a:solidFill>
              </a:defRPr>
            </a:pPr>
            <a:r>
              <a:t>Future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7091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Adversarial Post-Training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02919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Add discriminator for sharper 1-step outputs (DAPT approach)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23560"/>
            <a:ext cx="1097280" cy="4114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94A3B8"/>
                </a:solidFill>
              </a:defRPr>
            </a:pPr>
            <a:r>
              <a:t>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Combine v1e + v1f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8978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Content-adaptive router WITH spherical noise — best of both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